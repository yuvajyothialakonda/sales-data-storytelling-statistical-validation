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F9D8C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Fashion</c:v>
                  </c:pt>
                  <c:pt idx="1">
                    <c:v>Furniture</c:v>
                  </c:pt>
                  <c:pt idx="2">
                    <c:v>Grocery</c:v>
                  </c:pt>
                  <c:pt idx="3">
                    <c:v>Education</c:v>
                  </c:pt>
                  <c:pt idx="4">
                    <c:v>Electronics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19835896</c:v>
                </c:pt>
                <c:pt idx="1">
                  <c:v>21521561</c:v>
                </c:pt>
                <c:pt idx="2">
                  <c:v>22231711</c:v>
                </c:pt>
                <c:pt idx="3">
                  <c:v>25031689</c:v>
                </c:pt>
                <c:pt idx="4">
                  <c:v>50778582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12700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109.1</c:v>
                </c:pt>
                <c:pt idx="1">
                  <c:v>115.1</c:v>
                </c:pt>
                <c:pt idx="2">
                  <c:v>130.6</c:v>
                </c:pt>
                <c:pt idx="3">
                  <c:v>122.2</c:v>
                </c:pt>
                <c:pt idx="4">
                  <c:v>109.8</c:v>
                </c:pt>
                <c:pt idx="5">
                  <c:v>129.1</c:v>
                </c:pt>
                <c:pt idx="6">
                  <c:v>117.5</c:v>
                </c:pt>
                <c:pt idx="7">
                  <c:v>94.5</c:v>
                </c:pt>
                <c:pt idx="8">
                  <c:v>91.8</c:v>
                </c:pt>
                <c:pt idx="9">
                  <c:v>125</c:v>
                </c:pt>
                <c:pt idx="10">
                  <c:v>126.3</c:v>
                </c:pt>
                <c:pt idx="11">
                  <c:v>123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₹ Lakh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by City (₹ 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0F9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192.9</c:v>
                </c:pt>
                <c:pt idx="1">
                  <c:v>188.8</c:v>
                </c:pt>
                <c:pt idx="2">
                  <c:v>187.7</c:v>
                </c:pt>
                <c:pt idx="3">
                  <c:v>187.6</c:v>
                </c:pt>
                <c:pt idx="4">
                  <c:v>171.7</c:v>
                </c:pt>
                <c:pt idx="5">
                  <c:v>161</c:v>
                </c:pt>
                <c:pt idx="6">
                  <c:v>145.1</c:v>
                </c:pt>
                <c:pt idx="7">
                  <c:v>143.8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Orders 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(511)</c:v>
                </c:pt>
                <c:pt idx="1">
                  <c:v>Female (489)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511</c:v>
                </c:pt>
                <c:pt idx="1">
                  <c:v>489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by Age Group (₹ Lakh)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0F9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56+</c:v>
                  </c:pt>
                  <c:pt idx="2">
                    <c:v>46-55</c:v>
                  </c:pt>
                  <c:pt idx="3">
                    <c:v>26-35</c:v>
                  </c:pt>
                  <c:pt idx="4">
                    <c:v>36-45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222.8</c:v>
                </c:pt>
                <c:pt idx="1">
                  <c:v>277.3</c:v>
                </c:pt>
                <c:pt idx="2">
                  <c:v>282.2</c:v>
                </c:pt>
                <c:pt idx="3">
                  <c:v>296.3</c:v>
                </c:pt>
                <c:pt idx="4">
                  <c:v>315.3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291840" cy="3291840"/>
          </a:xfrm>
          <a:prstGeom prst="ellipse">
            <a:avLst/>
          </a:prstGeom>
          <a:solidFill>
            <a:srgbClr val="0F9D8C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480560"/>
            <a:ext cx="2194560" cy="21945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·  TASK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Decisions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 &amp; Statistical Validation of 1,000 Sales Orders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3108960" cy="0"/>
          </a:xfrm>
          <a:prstGeom prst="line">
            <a:avLst/>
          </a:prstGeom>
          <a:noFill/>
          <a:ln w="25400">
            <a:solidFill>
              <a:srgbClr val="0F9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Cleaned_Sales_Dataset.xlsx  ·  1,000 orders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Jan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 &amp; Leadership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three parts of analysis into one story leadership can act on — then stress-testing the two most decision-relevant patterns with formal statistics.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679" y="24853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Snapshot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revenue, orders, and where the money is coming from.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196596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5770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19" y="24853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the Numbers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product, city, seasonal and customer patterns worth acting 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96596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92340" y="2331720"/>
            <a:ext cx="640080" cy="64008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959" y="24853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4652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Patterns to the Test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9224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hypotheses, validated with a T-test and a Chi-squared test.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44000" y="196596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26980" y="2331720"/>
            <a:ext cx="640080" cy="64008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599" y="24853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8116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26880" y="4343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act on now, and what to keep watching.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 · Overview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of orders, at a glance.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914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₹13.94 Cr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4592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48840"/>
            <a:ext cx="594360" cy="59436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068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148840"/>
            <a:ext cx="594360" cy="59436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846" y="22914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23544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434840"/>
            <a:ext cx="594360" cy="59436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5774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43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164592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Category (₹5.08 Cr)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34840" y="4160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434840"/>
            <a:ext cx="594360" cy="59436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086" y="457748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343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Patna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544068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 by Revenue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0" y="41605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434840"/>
            <a:ext cx="594360" cy="59436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846" y="457748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4343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36–45 yrs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9235440" y="4937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Highest-Spending Age Group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Business Snapshot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— but the Portfolio Is Balanced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category dominates revenue — a healthy sign for resilience against category-specific slowdowns.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73352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536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= 36% of revenue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0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&amp; mobiles are the anchor of the catalog.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2724912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2587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categories, no dead weight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29535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the smallest, still contributes ₹1.98 Cr.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3776472"/>
            <a:ext cx="164592" cy="1645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3639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story matches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23760" y="40050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(₹2.54 Cr) and Mobile (₹2.53 Cr) are the top 2 SKUs.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Story in the Numbers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Peaks in March and Dips Every Late Summer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seasonal dip appears in August–September — worth planning promotions around.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Story in the Numbers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Spread Across Nine Cities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edges out Kolkata and Bengaluru for top revenue city — but the top 5 are within 15% of each other.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114800" cy="2057400"/>
          </a:xfrm>
          <a:prstGeom prst="roundRect">
            <a:avLst>
              <a:gd name="adj" fmla="val 3556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9476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61" y="2068373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city: Patna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680960" y="2514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₹1.93 Cr in revenue, 135 orders — a strong but not runaway lead over #2 Kolkata.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452360" y="397764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80960" y="4187952"/>
            <a:ext cx="502920" cy="50292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61" y="4308653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spread is even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680960" y="4754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weekday dominates order volume — Wednesday leads revenue slightly (₹2.15 Cr) but the spread across the week is narrow.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Story in the Numbers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Are Evenly Split Across Gender &amp; 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broad, balanced customer base — no single segment is being over- or under-served.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94960" y="173736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Story in the Numbers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234440"/>
            <a:ext cx="1371600" cy="137160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4" y="156362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34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Act — Let's Validate the Patterns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45920" y="38862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can suggest a story — but only a statistical test can confirm it isn't just noise.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two of the most decision-relevant patterns to the test.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51760" y="5074920"/>
            <a:ext cx="4103827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12700">
            <a:solidFill>
              <a:srgbClr val="0F9D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51760" y="5074920"/>
            <a:ext cx="41038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 ·  Weekday vs. Weekend Spend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21347" y="5074920"/>
            <a:ext cx="4498848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12700">
            <a:solidFill>
              <a:srgbClr val="0F9D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21347" y="5074920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  ·  Category vs. Gender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Putting Patterns to the Test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· Does Order Value Change on Weekends?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"Orders placed on weekends have a statistically significant different value than weekday orders."</a:t>
            </a:r>
            <a:endParaRPr lang="en-US" sz="1300" dirty="0"/>
          </a:p>
        </p:txBody>
      </p:sp>
      <p:pic>
        <p:nvPicPr>
          <p:cNvPr id="4" name="Image 0" descr="chart_weekday_weekend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07492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6276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-1.087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16276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0.2773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96696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966960" y="16276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-0.076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96696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(d)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274320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EAF7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126480" y="2907792"/>
            <a:ext cx="548640" cy="548640"/>
          </a:xfrm>
          <a:prstGeom prst="ellipse">
            <a:avLst/>
          </a:prstGeom>
          <a:solidFill>
            <a:srgbClr val="D6F3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54" y="3039466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(p ≥ 0.05)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H0 — no real difference detected.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9436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943600" y="41148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avg ₹1,41,894 vs. weekend avg ₹1,33,233 — a ₹8,661 gap that's small next to the spread in the data (95% CI crosses zero). Don't plan weekend pricing around a 'bigger weekend basket' assumption; grow weekend revenue through order volume instead.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Putting Patterns to the Test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· Is Category Choice Linked to Gender?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product category a customer buys from is associated with their gender."</a:t>
            </a:r>
            <a:endParaRPr lang="en-US" sz="1300" dirty="0"/>
          </a:p>
        </p:txBody>
      </p:sp>
      <p:pic>
        <p:nvPicPr>
          <p:cNvPr id="4" name="Image 0" descr="chart_gender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07492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6276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9.094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statistic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5528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16276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0.0588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966960" y="15087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966960" y="16276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966960" y="2148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V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274320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FDF3E6"/>
          </a:solidFill>
          <a:ln/>
        </p:spPr>
      </p:sp>
      <p:sp>
        <p:nvSpPr>
          <p:cNvPr id="15" name="Shape 12"/>
          <p:cNvSpPr/>
          <p:nvPr/>
        </p:nvSpPr>
        <p:spPr>
          <a:xfrm>
            <a:off x="6126480" y="2907792"/>
            <a:ext cx="548640" cy="548640"/>
          </a:xfrm>
          <a:prstGeom prst="ellipse">
            <a:avLst/>
          </a:prstGeom>
          <a:solidFill>
            <a:srgbClr val="FBE4B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54" y="3039466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— NOT SIGNIFICANT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0.0588, just above the 0.05 cutoff.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9436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943600" y="41148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leans slightly male (196 vs 158) and Fashion slightly female (89 vs 67), but a Cramer's V of 0.095 means any real link is very weak. Don't restructure category marketing by gender yet — but it's the one pattern worth re-testing as more orders come in, since it's a near-miss with directionally sensible results.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Putting Patterns to the Test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validated evidence supports doing right now.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Electronics &amp; top cities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651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grow the categories and cities already proven to drive revenue — Electronics, Patna, Kolkata, Bengaluru.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03120"/>
            <a:ext cx="502920" cy="502920"/>
          </a:xfrm>
          <a:prstGeom prst="ellipse">
            <a:avLst/>
          </a:prstGeom>
          <a:solidFill>
            <a:srgbClr val="0F9D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22238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299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Aug–Sep dip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78040" y="2651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confirmed seasonal trend to schedule promotions ahead of the historical late-summer slowdown.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C144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5098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3159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weekend-only pricing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4937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T-test found no significant difference in weekend vs weekday basket size — that assumption isn't supported.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C144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45098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159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off on gender-targeted category ads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78040" y="4937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Chi-squared test came in just short of significance — re-test with more data before committing spend.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Recommendations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F6F8F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2801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52156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pushback, and requests for deeper cuts of the data are welcome — the goal is a story the business trusts enough to act 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Final_Presentation.pptx   ·   Hypothesis_Testing_Summary.docx   ·   hypothesis_testing.py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 · Task 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Story &amp; Statistical Validation</dc:title>
  <dc:subject>PptxGenJS Presentation</dc:subject>
  <dc:creator>ApexPlanet Analytics</dc:creator>
  <cp:lastModifiedBy>ApexPlanet Analytics</cp:lastModifiedBy>
  <cp:revision>1</cp:revision>
  <dcterms:created xsi:type="dcterms:W3CDTF">2026-07-08T06:42:06Z</dcterms:created>
  <dcterms:modified xsi:type="dcterms:W3CDTF">2026-07-08T06:42:06Z</dcterms:modified>
</cp:coreProperties>
</file>